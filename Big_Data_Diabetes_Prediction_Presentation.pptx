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Welcome professors and evaluators. Today I am presenting our Big Data Analytics project: Scalable Diabetes Risk Prediction and Clinical Analytics. We developed an end-to-end distributed screening system trained on over a quarter of a million real-world patient records from the CDC.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Explain that testing every citizen with blood tests is logistically impossible. Big Data gives us the ability to use behavioral, demographic, and physical indicators to flag high-risk citizens before severe symptoms manifest.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Emphasize strongly that 768 rows is NOT Big Data. Point out that our project uses a verified 253,680-row dataset across 21 multi-dimensional features, giving authentic enterprise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BIG DATA ANALYTICS (BDA) | HEALTHCARE DECISION SUPPORT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Scalable Diabetes Risk Prediction</a:t>
            </a:r>
            <a:br/>
            <a:r>
              <a:t>&amp; Clinical Analytics System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Population-Scale Predictive Screening on 253,680 CDC Patient Encounters using Distributed Machine Learning &amp; Explainable AI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Presenter: Rishaadvp  |  Dataset: CDC BRFSS 2015 (253k rows, 21 attributes)  |  Target: BDA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BIG DATA ANALYTICS (BDA) HEALTHCARE PROJECT</a:t>
            </a:r>
          </a:p>
          <a:p>
            <a:pPr>
              <a:defRPr sz="2400" b="1">
                <a:solidFill>
                  <a:srgbClr val="1B365D"/>
                </a:solidFill>
              </a:defRPr>
            </a:pPr>
            <a:r>
              <a:t>Clinical Problem &amp; Big Data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Why Traditional Healthcare Systems Struggle With Metabolic Screening:</a:t>
            </a:r>
          </a:p>
          <a:p>
            <a:pPr>
              <a:defRPr b="1" sz="1400">
                <a:solidFill>
                  <a:srgbClr val="1B365D"/>
                </a:solidFill>
              </a:defRPr>
            </a:pPr>
            <a:r>
              <a:t>1. Global Disease Epidemic: </a:t>
            </a:r>
          </a:p>
          <a:p>
            <a:pPr lvl="1">
              <a:defRPr sz="1300">
                <a:solidFill>
                  <a:srgbClr val="374151"/>
                </a:solidFill>
              </a:defRPr>
            </a:pPr>
            <a:r>
              <a:t>Over 537 million adults live with diabetes globally. Early detection reduces irreversible complications like kidney failure, blindness, and cardiovascular disease.</a:t>
            </a:r>
          </a:p>
          <a:p>
            <a:pPr>
              <a:defRPr b="1" sz="1400">
                <a:solidFill>
                  <a:srgbClr val="1B365D"/>
                </a:solidFill>
              </a:defRPr>
            </a:pPr>
            <a:r>
              <a:t>2. Invasive Lab Tests Cannot Scale: </a:t>
            </a:r>
          </a:p>
          <a:p>
            <a:pPr lvl="1">
              <a:defRPr sz="1300">
                <a:solidFill>
                  <a:srgbClr val="374151"/>
                </a:solidFill>
              </a:defRPr>
            </a:pPr>
            <a:r>
              <a:t>Standard clinical diagnosis relies on venous blood draws (HbA1c / Fasting Plasma Glucose), which are expensive, invasive, and impossible to administer universally.</a:t>
            </a:r>
          </a:p>
          <a:p>
            <a:pPr>
              <a:defRPr b="1" sz="1400">
                <a:solidFill>
                  <a:srgbClr val="1B365D"/>
                </a:solidFill>
              </a:defRPr>
            </a:pPr>
            <a:r>
              <a:t>3. The Big Data Opportunity: </a:t>
            </a:r>
          </a:p>
          <a:p>
            <a:pPr lvl="1">
              <a:defRPr sz="1300">
                <a:solidFill>
                  <a:srgbClr val="374151"/>
                </a:solidFill>
              </a:defRPr>
            </a:pPr>
            <a:r>
              <a:t>Routine public health behavioral surveys (CDC BRFSS) collect demographic and biometric indicators at massive scale, enabling automated non-invasive risk screening.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303520"/>
            <a:ext cx="1069848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WHY THIS IS HERE: Clearly establishes the high-stakes clinical necessity and why Big Data is the only feasible paradigm to solve population-level screening.</a:t>
            </a:r>
          </a:p>
          <a:p>
            <a:pPr>
              <a:defRPr sz="1200" b="1">
                <a:solidFill>
                  <a:srgbClr val="0D9488"/>
                </a:solidFill>
              </a:defRPr>
            </a:pPr>
            <a:r>
              <a:t>BDA RELEVANCE: Maps directly to the 3 Vs of Big Data: High Volume (250k+ records), High Variety (biometric, survey, ordinal), and Clinical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BIG DATA ANALYTICS (BDA) HEALTHCARE PROJECT</a:t>
            </a:r>
          </a:p>
          <a:p>
            <a:pPr>
              <a:defRPr sz="2400" b="1">
                <a:solidFill>
                  <a:srgbClr val="1B365D"/>
                </a:solidFill>
              </a:defRPr>
            </a:pPr>
            <a:r>
              <a:t>Dataset Architecture: Why CDC BRFSS (253k+ Records)?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286000"/>
                <a:gridCol w="2926080"/>
                <a:gridCol w="3017520"/>
              </a:tblGrid>
              <a:tr h="670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Pima Indians (Toy Dataset)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CDC BRFSS Dataset (Our Project)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Impact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Data Volume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768 rows (tiny sample)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253,680 rows (22 MB big data)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True Big Data scale vs toy project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Demographic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Single female indigenous tribe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National population-wide diversity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High generalizability &amp; clinical validity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749039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Key Dataset Attributes (21 Features):</a:t>
            </a:r>
          </a:p>
          <a:p>
            <a:pPr>
              <a:defRPr sz="1200">
                <a:solidFill>
                  <a:srgbClr val="374151"/>
                </a:solidFill>
              </a:defRPr>
            </a:pPr>
            <a:r>
              <a:t>• Clinical/Biometrics: BMI, High Blood Pressure (HighBP), High Cholesterol (HighChol), Stroke, Heart Disease.</a:t>
            </a:r>
            <a:br/>
            <a:r>
              <a:t>• Lifestyle &amp; Demographics: Physical Activity, Smoking, Fruit/Veg Consumption, Alcohol, Age (1-13), Income, Education, General Health.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1069848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WHY THIS IS HERE: Proves why we rejected the 768-row Pima Indians dataset that most college students use, avoiding instant rejection from BDA evaluators.</a:t>
            </a:r>
          </a:p>
          <a:p>
            <a:pPr>
              <a:defRPr sz="1200" b="1">
                <a:solidFill>
                  <a:srgbClr val="0D9488"/>
                </a:solidFill>
              </a:defRPr>
            </a:pPr>
            <a:r>
              <a:t>BDA RELEVANCE: Satisfies the core BDA course prerequisite: processing large-scale, heterogeneous, real-world data volume.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BIG DATA ANALYTICS (BDA) HEALTHCARE PROJECT</a:t>
            </a:r>
          </a:p>
          <a:p>
            <a:pPr>
              <a:defRPr sz="2400" b="1">
                <a:solidFill>
                  <a:srgbClr val="1B365D"/>
                </a:solidFill>
              </a:defRPr>
            </a:pPr>
            <a:r>
              <a:t>End-to-End BDA System 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56032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1. Data Ingestion &amp; Quality</a:t>
            </a:r>
          </a:p>
          <a:p>
            <a:br/>
            <a:pPr>
              <a:defRPr sz="1100">
                <a:solidFill>
                  <a:srgbClr val="374151"/>
                </a:solidFill>
              </a:defRPr>
            </a:pPr>
            <a:r>
              <a:t>• 253,680 records ingested</a:t>
            </a:r>
            <a:br/>
            <a:r>
              <a:t>• Zero-null validation</a:t>
            </a:r>
            <a:br/>
            <a:r>
              <a:t>• Schema verification (21 features)</a:t>
            </a:r>
            <a:br/>
            <a:r>
              <a:t>• Binary target definition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554480"/>
            <a:ext cx="256032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2. Preprocessing &amp; Partitioning</a:t>
            </a:r>
          </a:p>
          <a:p>
            <a:br/>
            <a:pPr>
              <a:defRPr sz="1100">
                <a:solidFill>
                  <a:srgbClr val="374151"/>
                </a:solidFill>
              </a:defRPr>
            </a:pPr>
            <a:r>
              <a:t>• Stratified 80/20 train-test split</a:t>
            </a:r>
            <a:br/>
            <a:r>
              <a:t>• Cost-sensitive class weighting</a:t>
            </a:r>
            <a:br/>
            <a:r>
              <a:t>• StandardScaler normalization</a:t>
            </a:r>
            <a:br/>
            <a:r>
              <a:t>• Distributed vectorization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256032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3. Multi-Model Benchmark</a:t>
            </a:r>
          </a:p>
          <a:p>
            <a:br/>
            <a:pPr>
              <a:defRPr sz="1100">
                <a:solidFill>
                  <a:srgbClr val="374151"/>
                </a:solidFill>
              </a:defRPr>
            </a:pPr>
            <a:r>
              <a:t>• Logistic Regression (Linear)</a:t>
            </a:r>
            <a:br/>
            <a:r>
              <a:t>• Random Forest (Bagging)</a:t>
            </a:r>
            <a:br/>
            <a:r>
              <a:t>• HistGradientBoosting (Boosting)</a:t>
            </a:r>
            <a:br/>
            <a:r>
              <a:t>• Parallel multi-core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554480"/>
            <a:ext cx="256032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B365D"/>
                </a:solidFill>
              </a:defRPr>
            </a:pPr>
            <a:r>
              <a:t>4. Serving &amp; Clinical UI</a:t>
            </a:r>
          </a:p>
          <a:p>
            <a:br/>
            <a:pPr>
              <a:defRPr sz="1100">
                <a:solidFill>
                  <a:srgbClr val="374151"/>
                </a:solidFill>
              </a:defRPr>
            </a:pPr>
            <a:r>
              <a:t>• Pipeline serialization (.joblib)</a:t>
            </a:r>
            <a:br/>
            <a:r>
              <a:t>• Streamlit decision support UI</a:t>
            </a:r>
            <a:br/>
            <a:r>
              <a:t>• Real-time risk probability</a:t>
            </a:r>
            <a:br/>
            <a:r>
              <a:t>• Personalized factor triggers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WHY THIS IS HERE: Illustrates the complete operational flow from raw streaming data to clinical user interface.</a:t>
            </a:r>
          </a:p>
          <a:p>
            <a:pPr>
              <a:defRPr sz="1200" b="1">
                <a:solidFill>
                  <a:srgbClr val="0D9488"/>
                </a:solidFill>
              </a:defRPr>
            </a:pPr>
            <a:r>
              <a:t>BDA RELEVANCE: Mirrors enterprise Big Data pipelines (Ingestion -&gt; ETL -&gt; Distributed ML Training -&gt; Serialized Inference).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BIG DATA ANALYTICS (BDA) HEALTHCARE PROJECT</a:t>
            </a:r>
          </a:p>
          <a:p>
            <a:pPr>
              <a:defRPr sz="2400" b="1">
                <a:solidFill>
                  <a:srgbClr val="1B365D"/>
                </a:solidFill>
              </a:defRPr>
            </a:pPr>
            <a:r>
              <a:t>Critical Healthcare Challenge: Severe Class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B365D"/>
                </a:solidFill>
              </a:defRPr>
            </a:pPr>
            <a:r>
              <a:t>1. The Skew in Population Data: </a:t>
            </a:r>
          </a:p>
          <a:p>
            <a:pPr lvl="1">
              <a:defRPr sz="1300">
                <a:solidFill>
                  <a:srgbClr val="374151"/>
                </a:solidFill>
              </a:defRPr>
            </a:pPr>
            <a:r>
              <a:t>Healthy population: 218,334 (86.07%)  |  Diabetic/Prediabetic: 35,346 (13.93%). This severe 6:1 imbalance distorts standard machine learning algorithms.</a:t>
            </a:r>
          </a:p>
          <a:p>
            <a:pPr>
              <a:defRPr b="1" sz="1400">
                <a:solidFill>
                  <a:srgbClr val="1B365D"/>
                </a:solidFill>
              </a:defRPr>
            </a:pPr>
            <a:r>
              <a:t>2. The Accuracy Paradox: </a:t>
            </a:r>
          </a:p>
          <a:p>
            <a:pPr lvl="1">
              <a:defRPr sz="1300">
                <a:solidFill>
                  <a:srgbClr val="374151"/>
                </a:solidFill>
              </a:defRPr>
            </a:pPr>
            <a:r>
              <a:t>A naive model that predicts 'Healthy' for 100% of patients achieves an impressive 86% accuracy, but detects ZERO sick patients (100% False Negative rate). In clinical medicine, this is disastrous.</a:t>
            </a:r>
          </a:p>
          <a:p>
            <a:pPr>
              <a:defRPr b="1" sz="1400">
                <a:solidFill>
                  <a:srgbClr val="1B365D"/>
                </a:solidFill>
              </a:defRPr>
            </a:pPr>
            <a:r>
              <a:t>3. Our BDA Solution: Cost-Sensitive Balanced Weighting: </a:t>
            </a:r>
          </a:p>
          <a:p>
            <a:pPr lvl="1">
              <a:defRPr sz="1300">
                <a:solidFill>
                  <a:srgbClr val="374151"/>
                </a:solidFill>
              </a:defRPr>
            </a:pPr>
            <a:r>
              <a:t>We computed inverse class weights dynamically: w_j = N / (2 * N_j). This heavily penalizes the loss function when a diabetic patient is misclassified, forcing the models to achieve ~79.5% Sensitivity/Recall.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303520"/>
            <a:ext cx="1069848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WHY THIS IS HERE: Explains the mathematical reason why accuracy is rejected in favor of ROC-AUC and Recall in clinical AI systems.</a:t>
            </a:r>
          </a:p>
          <a:p>
            <a:pPr>
              <a:defRPr sz="1200" b="1">
                <a:solidFill>
                  <a:srgbClr val="0D9488"/>
                </a:solidFill>
              </a:defRPr>
            </a:pPr>
            <a:r>
              <a:t>BDA RELEVANCE: Addressing heavy class skew is a hallmark requirement in Big Data predictive modeling.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BIG DATA ANALYTICS (BDA) HEALTHCARE PROJECT</a:t>
            </a:r>
          </a:p>
          <a:p>
            <a:pPr>
              <a:defRPr sz="2400" b="1">
                <a:solidFill>
                  <a:srgbClr val="1B365D"/>
                </a:solidFill>
              </a:defRPr>
            </a:pPr>
            <a:r>
              <a:t>Algorithmic Benchmarking: Why Three Models?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474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1B365D"/>
                </a:solidFill>
              </a:defRPr>
            </a:pPr>
            <a:r>
              <a:t>Logistic Regression</a:t>
            </a:r>
          </a:p>
          <a:p>
            <a:pPr>
              <a:defRPr sz="1100" i="1">
                <a:solidFill>
                  <a:srgbClr val="374151"/>
                </a:solidFill>
              </a:defRPr>
            </a:pPr>
            <a:r>
              <a:t>Baseline Linear Classifier</a:t>
            </a:r>
          </a:p>
          <a:p>
            <a:br/>
            <a:pPr>
              <a:defRPr sz="1100">
                <a:solidFill>
                  <a:srgbClr val="374151"/>
                </a:solidFill>
              </a:defRPr>
            </a:pPr>
            <a:r>
              <a:t>• Evaluates log-odds linear relationships</a:t>
            </a:r>
            <a:br/>
            <a:r>
              <a:t>• Incredibly fast (0.27s on 200k rows)</a:t>
            </a:r>
            <a:br/>
            <a:r>
              <a:t>• Provides interpretable baseline odds ratios</a:t>
            </a:r>
            <a:br/>
            <a:r>
              <a:t>• ROC-AUC: 0.8196 | Recall: 76.11%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554480"/>
            <a:ext cx="3474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1B365D"/>
                </a:solidFill>
              </a:defRPr>
            </a:pPr>
            <a:r>
              <a:t>Random Forest (100 Trees)</a:t>
            </a:r>
          </a:p>
          <a:p>
            <a:pPr>
              <a:defRPr sz="1100" i="1">
                <a:solidFill>
                  <a:srgbClr val="374151"/>
                </a:solidFill>
              </a:defRPr>
            </a:pPr>
            <a:r>
              <a:t>Parallel Bagging Ensemble</a:t>
            </a:r>
          </a:p>
          <a:p>
            <a:br/>
            <a:pPr>
              <a:defRPr sz="1100">
                <a:solidFill>
                  <a:srgbClr val="374151"/>
                </a:solidFill>
              </a:defRPr>
            </a:pPr>
            <a:r>
              <a:t>• 100 decorrelated decision trees</a:t>
            </a:r>
            <a:br/>
            <a:r>
              <a:t>• Mitigates overfitting via bootstrap aggregation</a:t>
            </a:r>
            <a:br/>
            <a:r>
              <a:t>• Computes non-linear feature importances</a:t>
            </a:r>
            <a:br/>
            <a:r>
              <a:t>• ROC-AUC: 0.8227 | Recall: 73.99%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554480"/>
            <a:ext cx="3474720" cy="3383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HistGradientBoosting</a:t>
            </a:r>
          </a:p>
          <a:p>
            <a:pPr>
              <a:defRPr sz="1100" i="1">
                <a:solidFill>
                  <a:srgbClr val="374151"/>
                </a:solidFill>
              </a:defRPr>
            </a:pPr>
            <a:r>
              <a:t>Optimal Scalable Boosting</a:t>
            </a:r>
          </a:p>
          <a:p>
            <a:br/>
            <a:pPr>
              <a:defRPr sz="1100">
                <a:solidFill>
                  <a:srgbClr val="374151"/>
                </a:solidFill>
              </a:defRPr>
            </a:pPr>
            <a:r>
              <a:t>• Bins continuous values into 256 discrete bins</a:t>
            </a:r>
            <a:br/>
            <a:r>
              <a:t>• Reduces split complexity from O(N log N) to O(K*N)</a:t>
            </a:r>
            <a:br/>
            <a:r>
              <a:t>• Lightning-fast (&lt; 5s for 200k rows)</a:t>
            </a:r>
            <a:br/>
            <a:r>
              <a:t>• ROC-AUC: 0.8268 | Recall: 79.46% (WINNER)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1069848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WHY THIS IS HERE: Rigorous comparative study rather than picking an arbitrary algorithm without empirical justification.</a:t>
            </a:r>
          </a:p>
          <a:p>
            <a:pPr>
              <a:defRPr sz="1200" b="1">
                <a:solidFill>
                  <a:srgbClr val="0D9488"/>
                </a:solidFill>
              </a:defRPr>
            </a:pPr>
            <a:r>
              <a:t>BDA RELEVANCE: Compares algorithmic complexity (linear vs bagging vs histogram-boosting) over large tabular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BIG DATA ANALYTICS (BDA) HEALTHCARE PROJECT</a:t>
            </a:r>
          </a:p>
          <a:p>
            <a:pPr>
              <a:defRPr sz="2400" b="1">
                <a:solidFill>
                  <a:srgbClr val="1B365D"/>
                </a:solidFill>
              </a:defRPr>
            </a:pPr>
            <a:r>
              <a:t>Experimental Results &amp; Model Evaluation</a:t>
            </a:r>
          </a:p>
        </p:txBody>
      </p:sp>
      <p:pic>
        <p:nvPicPr>
          <p:cNvPr id="3" name="Picture 2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114800" cy="3474720"/>
          </a:xfrm>
          <a:prstGeom prst="rect">
            <a:avLst/>
          </a:prstGeom>
        </p:spPr>
      </p:pic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63040"/>
            <a:ext cx="347472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0" y="1463040"/>
            <a:ext cx="265176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Benchmark Summary: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Evaluated on 50,736 test records.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Best Model: HistGradientBoosting.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ROC-AUC: 0.8268 (Superb class separation).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Recall / Sensitivity: 79.46% (Captures 4 out of 5 diabetic patients early).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Training latency: Under 5 seconds on 200,000+ training instances.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1069848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WHY THIS IS HERE: Provides visual empirical validation (ROC Curves &amp; Confusion Matrix) demonstrating high diagnostic power.</a:t>
            </a:r>
          </a:p>
          <a:p>
            <a:pPr>
              <a:defRPr sz="1200" b="1">
                <a:solidFill>
                  <a:srgbClr val="0D9488"/>
                </a:solidFill>
              </a:defRPr>
            </a:pPr>
            <a:r>
              <a:t>BDA RELEVANCE: Uses distributed evaluation metrics (ROC-AUC, Precision, Recall) standard in Big Data benchmarking.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BIG DATA ANALYTICS (BDA) HEALTHCARE PROJECT</a:t>
            </a:r>
          </a:p>
          <a:p>
            <a:pPr>
              <a:defRPr sz="2400" b="1">
                <a:solidFill>
                  <a:srgbClr val="1B365D"/>
                </a:solidFill>
              </a:defRPr>
            </a:pPr>
            <a:r>
              <a:t>Explainable AI (XAI): Clinical Feature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0" y="146304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B365D"/>
                </a:solidFill>
              </a:defRPr>
            </a:pPr>
            <a:r>
              <a:t>1. Eliminating the 'Black Box': </a:t>
            </a:r>
          </a:p>
          <a:p>
            <a:pPr lvl="1">
              <a:defRPr sz="1300">
                <a:solidFill>
                  <a:srgbClr val="374151"/>
                </a:solidFill>
              </a:defRPr>
            </a:pPr>
            <a:r>
              <a:t>Clinicians will never adopt an opaque prediction. Feature importance ranking reveals exactly why a patient is identified as high risk.</a:t>
            </a:r>
          </a:p>
          <a:p>
            <a:pPr>
              <a:defRPr b="1" sz="1400">
                <a:solidFill>
                  <a:srgbClr val="1B365D"/>
                </a:solidFill>
              </a:defRPr>
            </a:pPr>
            <a:r>
              <a:t>2. Top 5 Clinical Risk Drivers: </a:t>
            </a:r>
          </a:p>
          <a:p>
            <a:pPr lvl="1">
              <a:defRPr sz="1300">
                <a:solidFill>
                  <a:srgbClr val="374151"/>
                </a:solidFill>
              </a:defRPr>
            </a:pPr>
            <a:r>
              <a:t>1. General Health (GenHlth): Strongest correlation with chronic disease.</a:t>
            </a:r>
            <a:br/>
            <a:r>
              <a:t>2. Body Mass Index (BMI): Exponential surge in insulin resistance.</a:t>
            </a:r>
            <a:br/>
            <a:r>
              <a:t>3. High Blood Pressure (HighBP): Vascular comorbidity.</a:t>
            </a:r>
            <a:br/>
            <a:r>
              <a:t>4. Age Bracket: Beta-cell decline in older demographics.</a:t>
            </a:r>
            <a:br/>
            <a:r>
              <a:t>5. High Cholesterol: Metabolic syndrome lipid profiles.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1069848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WHY THIS IS HERE: Demonstrates that the system is clinically sound and medically interpretable, not just a black-box formula.</a:t>
            </a:r>
          </a:p>
          <a:p>
            <a:pPr>
              <a:defRPr sz="1200" b="1">
                <a:solidFill>
                  <a:srgbClr val="0D9488"/>
                </a:solidFill>
              </a:defRPr>
            </a:pPr>
            <a:r>
              <a:t>BDA RELEVANCE: Dimensionality analysis and feature importance extraction are core Big Data Analytics competencies.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BIG DATA ANALYTICS (BDA) HEALTHCARE PROJECT</a:t>
            </a:r>
          </a:p>
          <a:p>
            <a:pPr>
              <a:defRPr sz="2400" b="1">
                <a:solidFill>
                  <a:srgbClr val="1B365D"/>
                </a:solidFill>
              </a:defRPr>
            </a:pPr>
            <a:r>
              <a:t>Interactive Clinical Decision Support Dashboard (Streamlit)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B365D"/>
                </a:solidFill>
              </a:defRPr>
            </a:pPr>
            <a:r>
              <a:t>1. Real-Time Patient Risk Calculator: </a:t>
            </a:r>
          </a:p>
          <a:p>
            <a:pPr lvl="1">
              <a:defRPr sz="1300">
                <a:solidFill>
                  <a:srgbClr val="374151"/>
                </a:solidFill>
              </a:defRPr>
            </a:pPr>
            <a:r>
              <a:t>Physicians or triage nurses enter patient vitals (BMI, blood pressure, age, cholesterol, lifestyle factors) via sliders and toggles to receive an instant probability score.</a:t>
            </a:r>
          </a:p>
          <a:p>
            <a:pPr>
              <a:defRPr b="1" sz="1400">
                <a:solidFill>
                  <a:srgbClr val="1B365D"/>
                </a:solidFill>
              </a:defRPr>
            </a:pPr>
            <a:r>
              <a:t>2. Color-Coded Risk Triage Tiers: </a:t>
            </a:r>
          </a:p>
          <a:p>
            <a:pPr lvl="1">
              <a:defRPr sz="1300">
                <a:solidFill>
                  <a:srgbClr val="374151"/>
                </a:solidFill>
              </a:defRPr>
            </a:pPr>
            <a:r>
              <a:t>• Green (&lt; 35%): Low risk - routine periodic checkup.</a:t>
            </a:r>
            <a:br/>
            <a:r>
              <a:t>• Amber (35% - 60%): Moderate risk - lifestyle &amp; diet intervention.</a:t>
            </a:r>
            <a:br/>
            <a:r>
              <a:t>• Red (&gt; 60%): High risk - urgent lab confirmation (HbA1c test).</a:t>
            </a:r>
          </a:p>
          <a:p>
            <a:pPr>
              <a:defRPr b="1" sz="1400">
                <a:solidFill>
                  <a:srgbClr val="1B365D"/>
                </a:solidFill>
              </a:defRPr>
            </a:pPr>
            <a:r>
              <a:t>3. Personalized Trigger Explanations: </a:t>
            </a:r>
          </a:p>
          <a:p>
            <a:pPr lvl="1">
              <a:defRPr sz="1300">
                <a:solidFill>
                  <a:srgbClr val="374151"/>
                </a:solidFill>
              </a:defRPr>
            </a:pPr>
            <a:r>
              <a:t>Dynamically highlights the specific biometric drivers (e.g. 'Obesity + Hypertension + Advancing Age') that elevated the patient's individual score.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303520"/>
            <a:ext cx="1069848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WHY THIS IS HERE: Proves the machine learning model is translated into an actionable real-world software product.</a:t>
            </a:r>
          </a:p>
          <a:p>
            <a:pPr>
              <a:defRPr sz="1200" b="1">
                <a:solidFill>
                  <a:srgbClr val="0D9488"/>
                </a:solidFill>
              </a:defRPr>
            </a:pPr>
            <a:r>
              <a:t>BDA RELEVANCE: Demonstrates end-user consumption of Big Data models via low-latency interactive dashboards.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BIG DATA ANALYTICS (BDA) HEALTHCARE PROJECT</a:t>
            </a:r>
          </a:p>
          <a:p>
            <a:pPr>
              <a:defRPr sz="2400" b="1">
                <a:solidFill>
                  <a:srgbClr val="1B365D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B365D"/>
                </a:solidFill>
              </a:defRPr>
            </a:pPr>
            <a:r>
              <a:t>Summary of Achievements: </a:t>
            </a:r>
          </a:p>
          <a:p>
            <a:pPr lvl="1">
              <a:defRPr sz="1300">
                <a:solidFill>
                  <a:srgbClr val="374151"/>
                </a:solidFill>
              </a:defRPr>
            </a:pPr>
            <a:r>
              <a:t>• Built a complete BDA healthcare pipeline on 253,680 real CDC records.</a:t>
            </a:r>
            <a:br/>
            <a:r>
              <a:t>• Achieved 0.827 ROC-AUC and 79.5% Recall using Histogram Gradient Boosting.</a:t>
            </a:r>
            <a:br/>
            <a:r>
              <a:t>• Delivered transparent Explainable AI risk factors and an interactive Streamlit UI.</a:t>
            </a:r>
          </a:p>
          <a:p>
            <a:pPr>
              <a:defRPr b="1" sz="1400">
                <a:solidFill>
                  <a:srgbClr val="1B365D"/>
                </a:solidFill>
              </a:defRPr>
            </a:pPr>
            <a:r>
              <a:t>Future Big Data Enhancements: </a:t>
            </a:r>
          </a:p>
          <a:p>
            <a:pPr lvl="1">
              <a:defRPr sz="1300">
                <a:solidFill>
                  <a:srgbClr val="374151"/>
                </a:solidFill>
              </a:defRPr>
            </a:pPr>
            <a:r>
              <a:t>• Streaming Ingestion: Ingest real-time vitals using Apache Kafka and Spark Structured Streaming.</a:t>
            </a:r>
            <a:br/>
            <a:r>
              <a:t>• Deep Learning at Scale: Deploy PySpark MLlib or distributed neural networks for multi-morbidity prediction.</a:t>
            </a:r>
            <a:br/>
            <a:r>
              <a:t>• EHR Integration: Interoperate with HL7 / FHIR electronic hospital records.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303520"/>
            <a:ext cx="1069848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defRPr sz="1200" b="1">
                <a:solidFill>
                  <a:srgbClr val="1B365D"/>
                </a:solidFill>
              </a:defRPr>
            </a:pPr>
            <a:r>
              <a:t>WHY THIS IS HERE: Provides a strong concluding summary showing clear business/healthcare impact and an architectural roadmap.</a:t>
            </a:r>
          </a:p>
          <a:p>
            <a:pPr>
              <a:defRPr sz="1200" b="1">
                <a:solidFill>
                  <a:srgbClr val="0D9488"/>
                </a:solidFill>
              </a:defRPr>
            </a:pPr>
            <a:r>
              <a:t>BDA RELEVANCE: Shows examiners a deep understanding of future enterprise distributed streaming technologies.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